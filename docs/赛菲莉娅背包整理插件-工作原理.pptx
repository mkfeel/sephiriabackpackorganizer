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>
                <a:solidFill>
                  <a:srgbClr val="1F3B57"/>
                </a:solidFill>
                <a:latin typeface="微软雅黑"/>
                <a:ea typeface="微软雅黑"/>
              </a:rPr>
              <a:t>赛菲莉娅 背包整理插件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2F6FAD"/>
                </a:solidFill>
                <a:latin typeface="微软雅黑"/>
                <a:ea typeface="微软雅黑"/>
              </a:rPr>
              <a:t>工作原理：一键 F8 智能整理背包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947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555555"/>
                </a:solidFill>
                <a:latin typeface="微软雅黑"/>
                <a:ea typeface="微软雅黑"/>
              </a:rPr>
              <a:t>识别 → 评分 → 搜索 → 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3949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8A8A8A"/>
                </a:solidFill>
                <a:latin typeface="微软雅黑"/>
                <a:ea typeface="微软雅黑"/>
              </a:rPr>
              <a:t>BepInEx 插件 · v2.3.9 · Enhanced 增强整理模式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806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8A8A8A"/>
                </a:solidFill>
                <a:latin typeface="微软雅黑"/>
                <a:ea typeface="微软雅黑"/>
              </a:rPr>
              <a:t>2026-08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F3B57"/>
                </a:solidFill>
                <a:latin typeface="微软雅黑"/>
                <a:ea typeface="微软雅黑"/>
              </a:rPr>
              <a:t>它解决什么问题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55555"/>
                </a:solidFill>
                <a:latin typeface="微软雅黑"/>
                <a:ea typeface="微软雅黑"/>
              </a:rPr>
              <a:t>手动摆背包，几乎不可能同时满足所有加成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3B57"/>
                </a:solidFill>
                <a:latin typeface="微软雅黑"/>
                <a:ea typeface="微软雅黑"/>
              </a:rPr>
              <a:t>· 石板改格子等级：</a:t>
            </a:r>
            <a:r>
              <a:rPr sz="1250" b="0">
                <a:solidFill>
                  <a:srgbClr val="8A8A8A"/>
                </a:solidFill>
                <a:latin typeface="微软雅黑"/>
                <a:ea typeface="微软雅黑"/>
              </a:rPr>
              <a:t>  +N 等级 / ×M 倍率 / 解锁豁免格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3B57"/>
                </a:solidFill>
                <a:latin typeface="微软雅黑"/>
                <a:ea typeface="微软雅黑"/>
              </a:rPr>
              <a:t>· 护符带位置条件：</a:t>
            </a:r>
            <a:r>
              <a:rPr sz="1250" b="0">
                <a:solidFill>
                  <a:srgbClr val="8A8A8A"/>
                </a:solidFill>
                <a:latin typeface="微软雅黑"/>
                <a:ea typeface="微软雅黑"/>
              </a:rPr>
              <a:t>  顶行、两侧、内侧、旁边必须空着、八邻域全满……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3B57"/>
                </a:solidFill>
                <a:latin typeface="微软雅黑"/>
                <a:ea typeface="微软雅黑"/>
              </a:rPr>
              <a:t>· 组合机制要"摆在一起"：</a:t>
            </a:r>
            <a:r>
              <a:rPr sz="1250" b="0">
                <a:solidFill>
                  <a:srgbClr val="8A8A8A"/>
                </a:solidFill>
                <a:latin typeface="微软雅黑"/>
                <a:ea typeface="微软雅黑"/>
              </a:rPr>
              <a:t>  行星望远镜+行星、和谐之晶周围8格、奉献徽章同行、指北针上下配对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3B57"/>
                </a:solidFill>
                <a:latin typeface="微软雅黑"/>
                <a:ea typeface="微软雅黑"/>
              </a:rPr>
              <a:t>· 游戏内置排列只跑几次迭代，</a:t>
            </a:r>
            <a:r>
              <a:rPr sz="1250" b="0">
                <a:solidFill>
                  <a:srgbClr val="8A8A8A"/>
                </a:solidFill>
                <a:latin typeface="微软雅黑"/>
                <a:ea typeface="微软雅黑"/>
              </a:rPr>
              <a:t>  经常停在明显不是最优的结果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737360"/>
            <a:ext cx="5029200" cy="3931920"/>
          </a:xfrm>
          <a:prstGeom prst="rect">
            <a:avLst/>
          </a:prstGeom>
          <a:solidFill>
            <a:srgbClr val="F2F6FA"/>
          </a:solidFill>
          <a:ln w="15240">
            <a:solidFill>
              <a:srgbClr val="2F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965960"/>
            <a:ext cx="44805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2F6FAD"/>
                </a:solidFill>
                <a:latin typeface="微软雅黑"/>
                <a:ea typeface="微软雅黑"/>
              </a:rPr>
              <a:t>插件的做法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500" b="0">
                <a:solidFill>
                  <a:srgbClr val="1F3B57"/>
                </a:solidFill>
                <a:latin typeface="微软雅黑"/>
                <a:ea typeface="微软雅黑"/>
              </a:rPr>
              <a:t>按 F8，把背包重排一遍，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500" b="0">
                <a:solidFill>
                  <a:srgbClr val="1F3B57"/>
                </a:solidFill>
                <a:latin typeface="微软雅黑"/>
                <a:ea typeface="微软雅黑"/>
              </a:rPr>
              <a:t>让各种加成尽量同时吃到。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500" b="0">
                <a:solidFill>
                  <a:srgbClr val="1F3B57"/>
                </a:solidFill>
                <a:latin typeface="微软雅黑"/>
                <a:ea typeface="微软雅黑"/>
              </a:rPr>
              <a:t>排完提示"整理完毕"。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</a:pPr>
            <a:r>
              <a:rPr sz="1250" b="0">
                <a:solidFill>
                  <a:srgbClr val="555555"/>
                </a:solidFill>
                <a:latin typeface="微软雅黑"/>
                <a:ea typeface="微软雅黑"/>
              </a:rPr>
              <a:t>不修改游戏文件，</a:t>
            </a:r>
          </a:p>
          <a:p>
            <a:pPr algn="l">
              <a:lnSpc>
                <a:spcPct val="112000"/>
              </a:lnSpc>
              <a:spcBef>
                <a:spcPts val="200"/>
              </a:spcBef>
            </a:pPr>
            <a:r>
              <a:rPr sz="1250" b="0">
                <a:solidFill>
                  <a:srgbClr val="555555"/>
                </a:solidFill>
                <a:latin typeface="微软雅黑"/>
                <a:ea typeface="微软雅黑"/>
              </a:rPr>
              <a:t>单机 / 主机 / 联机客户端都可用。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F3B57"/>
                </a:solidFill>
                <a:latin typeface="微软雅黑"/>
                <a:ea typeface="微软雅黑"/>
              </a:rPr>
              <a:t>总体思路：先离线算，再一次性应用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55555"/>
                </a:solidFill>
                <a:latin typeface="微软雅黑"/>
                <a:ea typeface="微软雅黑"/>
              </a:rPr>
              <a:t>在背包副本上算最优，游戏里只改一次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3B57"/>
                </a:solidFill>
                <a:latin typeface="微软雅黑"/>
                <a:ea typeface="微软雅黑"/>
              </a:rPr>
              <a:t>· 1. 识别</a:t>
            </a:r>
            <a:r>
              <a:rPr sz="1250" b="0">
                <a:solidFill>
                  <a:srgbClr val="8A8A8A"/>
                </a:solidFill>
                <a:latin typeface="微软雅黑"/>
                <a:ea typeface="微软雅黑"/>
              </a:rPr>
              <a:t>  物品分类 + 特殊机制识别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3B57"/>
                </a:solidFill>
                <a:latin typeface="微软雅黑"/>
                <a:ea typeface="微软雅黑"/>
              </a:rPr>
              <a:t>· 2. 评分</a:t>
            </a:r>
            <a:r>
              <a:rPr sz="1250" b="0">
                <a:solidFill>
                  <a:srgbClr val="8A8A8A"/>
                </a:solidFill>
                <a:latin typeface="微软雅黑"/>
                <a:ea typeface="微软雅黑"/>
              </a:rPr>
              <a:t>  给任意摆法打分（越高加成越大）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F3B57"/>
                </a:solidFill>
                <a:latin typeface="微软雅黑"/>
                <a:ea typeface="微软雅黑"/>
              </a:rPr>
              <a:t>· 3. 搜索</a:t>
            </a:r>
            <a:r>
              <a:rPr sz="1250" b="0">
                <a:solidFill>
                  <a:srgbClr val="8A8A8A"/>
                </a:solidFill>
                <a:latin typeface="微软雅黑"/>
                <a:ea typeface="微软雅黑"/>
              </a:rPr>
              <a:t>  智能初始 + 多轮模拟退火找最高分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副本上可跑几千次迭代</a:t>
            </a:r>
            <a:r>
              <a:rPr sz="1150" b="0">
                <a:solidFill>
                  <a:srgbClr val="8A8A8A"/>
                </a:solidFill>
                <a:latin typeface="微软雅黑"/>
                <a:ea typeface="微软雅黑"/>
              </a:rPr>
              <a:t>  游戏内置算法迭代次数少（默认仅 4 次）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游戏内只改一次，干净利落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联机客户端也能用</a:t>
            </a:r>
            <a:r>
              <a:rPr sz="1150" b="0">
                <a:solidFill>
                  <a:srgbClr val="8A8A8A"/>
                </a:solidFill>
                <a:latin typeface="微软雅黑"/>
                <a:ea typeface="微软雅黑"/>
              </a:rPr>
              <a:t>  算完用网络命令执行</a:t>
            </a:r>
          </a:p>
        </p:txBody>
      </p:sp>
      <p:pic>
        <p:nvPicPr>
          <p:cNvPr id="8" name="Picture 7" descr="fig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45920"/>
            <a:ext cx="6126480" cy="13722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F3B57"/>
                </a:solidFill>
                <a:latin typeface="微软雅黑"/>
                <a:ea typeface="微软雅黑"/>
              </a:rPr>
              <a:t>第一步：认识背包里的每一件东西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55555"/>
                </a:solidFill>
                <a:latin typeface="微软雅黑"/>
                <a:ea typeface="微软雅黑"/>
              </a:rPr>
              <a:t>识别靠类型/接口判断，配置 key 兜底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1F3B57"/>
                </a:solidFill>
                <a:latin typeface="微软雅黑"/>
                <a:ea typeface="微软雅黑"/>
              </a:rPr>
              <a:t>· 石板：</a:t>
            </a:r>
            <a:r>
              <a:rPr sz="1100" b="0">
                <a:solidFill>
                  <a:srgbClr val="8A8A8A"/>
                </a:solidFill>
                <a:latin typeface="微软雅黑"/>
                <a:ea typeface="微软雅黑"/>
              </a:rPr>
              <a:t>  占多格 + 效果网格（加等级/乘倍率/解锁豁免格），可旋转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1F3B57"/>
                </a:solidFill>
                <a:latin typeface="微软雅黑"/>
                <a:ea typeface="微软雅黑"/>
              </a:rPr>
              <a:t>· 护符：</a:t>
            </a:r>
            <a:r>
              <a:rPr sz="1100" b="0">
                <a:solidFill>
                  <a:srgbClr val="8A8A8A"/>
                </a:solidFill>
                <a:latin typeface="微软雅黑"/>
                <a:ea typeface="微软雅黑"/>
              </a:rPr>
              <a:t>  占一格 + 等级 + 位置条件/联动机制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1F3B57"/>
                </a:solidFill>
                <a:latin typeface="微软雅黑"/>
                <a:ea typeface="微软雅黑"/>
              </a:rPr>
              <a:t>· 负面藏品（负担）：</a:t>
            </a:r>
            <a:r>
              <a:rPr sz="1100" b="0">
                <a:solidFill>
                  <a:srgbClr val="8A8A8A"/>
                </a:solidFill>
                <a:latin typeface="微软雅黑"/>
                <a:ea typeface="微软雅黑"/>
              </a:rPr>
              <a:t>  心之重担等，塞进最差的格子减少损失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50" b="0">
                <a:solidFill>
                  <a:srgbClr val="1F3B57"/>
                </a:solidFill>
                <a:latin typeface="微软雅黑"/>
                <a:ea typeface="微软雅黑"/>
              </a:rPr>
              <a:t>· 杂物：</a:t>
            </a:r>
            <a:r>
              <a:rPr sz="1100" b="0">
                <a:solidFill>
                  <a:srgbClr val="8A8A8A"/>
                </a:solidFill>
                <a:latin typeface="微软雅黑"/>
                <a:ea typeface="微软雅黑"/>
              </a:rPr>
              <a:t>  凑数物品，填空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F6FAD"/>
                </a:solidFill>
                <a:latin typeface="微软雅黑"/>
                <a:ea typeface="微软雅黑"/>
              </a:rPr>
              <a:t>特殊机制识别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F3B57"/>
                </a:solidFill>
                <a:latin typeface="微软雅黑"/>
                <a:ea typeface="微软雅黑"/>
              </a:rPr>
              <a:t>· 位置条件护符（9 种枚举） / 豁免格（解锁石板）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F3B57"/>
                </a:solidFill>
                <a:latin typeface="微软雅黑"/>
                <a:ea typeface="微软雅黑"/>
              </a:rPr>
              <a:t>· 行星望远镜 + 行星藏品（PLANET 标签，可排除）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F3B57"/>
                </a:solidFill>
                <a:latin typeface="微软雅黑"/>
                <a:ea typeface="微软雅黑"/>
              </a:rPr>
              <a:t>· 和谐之晶 / 奉献徽章 / 同伴（ICompanionCharm 接口）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F3B57"/>
                </a:solidFill>
                <a:latin typeface="微软雅黑"/>
                <a:ea typeface="微软雅黑"/>
              </a:rPr>
              <a:t>· 指北针 / 行锁定物品（凯尔萨德尼钥匙）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0">
                <a:solidFill>
                  <a:srgbClr val="1F3B57"/>
                </a:solidFill>
                <a:latin typeface="微软雅黑"/>
                <a:ea typeface="微软雅黑"/>
              </a:rPr>
              <a:t>· 神秘 ×2 地块 / 武器相关护符（需武器匹配）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F6FAD"/>
                </a:solidFill>
                <a:latin typeface="微软雅黑"/>
                <a:ea typeface="微软雅黑"/>
              </a:rPr>
              <a:t>一张布局能同时吃到的机制</a:t>
            </a:r>
          </a:p>
        </p:txBody>
      </p:sp>
      <p:pic>
        <p:nvPicPr>
          <p:cNvPr id="10" name="Picture 9" descr="fig_backp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3666" y="2011680"/>
            <a:ext cx="5146346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F3B57"/>
                </a:solidFill>
                <a:latin typeface="微软雅黑"/>
                <a:ea typeface="微软雅黑"/>
              </a:rPr>
              <a:t>第二步：给一种摆法打分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55555"/>
                </a:solidFill>
                <a:latin typeface="微软雅黑"/>
                <a:ea typeface="微软雅黑"/>
              </a:rPr>
              <a:t>离线模拟游戏全部加成公式，作为搜索的目标函数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577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有效等级 =</a:t>
            </a:r>
            <a:r>
              <a:rPr sz="1150" b="0">
                <a:solidFill>
                  <a:srgbClr val="8A8A8A"/>
                </a:solidFill>
                <a:latin typeface="微软雅黑"/>
                <a:ea typeface="微软雅黑"/>
              </a:rPr>
              <a:t>  石板贡献 + 附魔，神秘地块再 ×2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是否启用：</a:t>
            </a:r>
            <a:r>
              <a:rPr sz="1150" b="0">
                <a:solidFill>
                  <a:srgbClr val="8A8A8A"/>
                </a:solidFill>
                <a:latin typeface="微软雅黑"/>
                <a:ea typeface="微软雅黑"/>
              </a:rPr>
              <a:t>  等级≥0 &amp;&amp; 位置满足（或豁免格）&amp;&amp; 武器匹配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核心分：</a:t>
            </a:r>
            <a:r>
              <a:rPr sz="1150" b="0">
                <a:solidFill>
                  <a:srgbClr val="8A8A8A"/>
                </a:solidFill>
                <a:latin typeface="微软雅黑"/>
                <a:ea typeface="微软雅黑"/>
              </a:rPr>
              <a:t>  有效等级 × 10000 × 优先级权重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启用 +1000 / 禁用 -750，负格 -250/级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优先级：</a:t>
            </a:r>
            <a:r>
              <a:rPr sz="1150" b="0">
                <a:solidFill>
                  <a:srgbClr val="8A8A8A"/>
                </a:solidFill>
                <a:latin typeface="微软雅黑"/>
                <a:ea typeface="微软雅黑"/>
              </a:rPr>
              <a:t>  传说/羁绊 P1 → 普通 P4，权重 1.5 → 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61772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2F6FAD"/>
                </a:solidFill>
                <a:latin typeface="微软雅黑"/>
                <a:ea typeface="微软雅黑"/>
              </a:rPr>
              <a:t>机制联动分（默认权重）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8348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3B57"/>
                </a:solidFill>
                <a:latin typeface="微软雅黑"/>
                <a:ea typeface="微软雅黑"/>
              </a:rPr>
              <a:t>· 行星聚簇 +40000/颗 · 和谐之晶 +2000×等级和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3B57"/>
                </a:solidFill>
                <a:latin typeface="微软雅黑"/>
                <a:ea typeface="微软雅黑"/>
              </a:rPr>
              <a:t>· 奉献徽章 +3000/同伴 · 指北针配对 +12000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3B57"/>
                </a:solidFill>
                <a:latin typeface="微软雅黑"/>
                <a:ea typeface="微软雅黑"/>
              </a:rPr>
              <a:t>· 负担惩罚 -20000/级 · 行锁定跨行 -100000</a:t>
            </a:r>
          </a:p>
        </p:txBody>
      </p:sp>
      <p:pic>
        <p:nvPicPr>
          <p:cNvPr id="9" name="Picture 8" descr="fig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486400" cy="27550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F3B57"/>
                </a:solidFill>
                <a:latin typeface="微软雅黑"/>
                <a:ea typeface="微软雅黑"/>
              </a:rPr>
              <a:t>石板和物品怎么配合：等级分配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55555"/>
                </a:solidFill>
                <a:latin typeface="微软雅黑"/>
                <a:ea typeface="微软雅黑"/>
              </a:rPr>
              <a:t>等级是格子的属性——石板决定哪几格亮，护符决定站哪格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格子等级 =</a:t>
            </a:r>
            <a:r>
              <a:rPr sz="1150" b="0">
                <a:solidFill>
                  <a:srgbClr val="8A8A8A"/>
                </a:solidFill>
                <a:latin typeface="微软雅黑"/>
                <a:ea typeface="微软雅黑"/>
              </a:rPr>
              <a:t>  (裸等级 + 石板贡献) × 神秘倍率 + 附魔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石板 = 聚光灯</a:t>
            </a:r>
            <a:r>
              <a:rPr sz="1150" b="0">
                <a:solidFill>
                  <a:srgbClr val="8A8A8A"/>
                </a:solidFill>
                <a:latin typeface="微软雅黑"/>
                <a:ea typeface="微软雅黑"/>
              </a:rPr>
              <a:t>  位置/旋转决定哪几格 +N、哪格禁用/豁免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护符 = 演员</a:t>
            </a:r>
            <a:r>
              <a:rPr sz="1150" b="0">
                <a:solidFill>
                  <a:srgbClr val="8A8A8A"/>
                </a:solidFill>
                <a:latin typeface="微软雅黑"/>
                <a:ea typeface="微软雅黑"/>
              </a:rPr>
              <a:t>  位置条件限区域，其余按优先级挑亮格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"先石板后物品"是交替推进</a:t>
            </a:r>
            <a:r>
              <a:rPr sz="1150" b="0">
                <a:solidFill>
                  <a:srgbClr val="8A8A8A"/>
                </a:solidFill>
                <a:latin typeface="微软雅黑"/>
                <a:ea typeface="微软雅黑"/>
              </a:rPr>
              <a:t>  每摆一步重算全部格子等级，下一步基于最新等级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负效果石板最先摆</a:t>
            </a:r>
            <a:r>
              <a:rPr sz="1150" b="0">
                <a:solidFill>
                  <a:srgbClr val="8A8A8A"/>
                </a:solidFill>
                <a:latin typeface="微软雅黑"/>
                <a:ea typeface="微软雅黑"/>
              </a:rPr>
              <a:t>  负等级不漏到将来放护符的格子上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退火里旋转石板 + 移动物品</a:t>
            </a:r>
            <a:r>
              <a:rPr sz="1150" b="0">
                <a:solidFill>
                  <a:srgbClr val="8A8A8A"/>
                </a:solidFill>
                <a:latin typeface="微软雅黑"/>
                <a:ea typeface="微软雅黑"/>
              </a:rPr>
              <a:t>  灯光与站位联合优化，直到评分收敛</a:t>
            </a:r>
          </a:p>
        </p:txBody>
      </p:sp>
      <p:pic>
        <p:nvPicPr>
          <p:cNvPr id="7" name="Picture 6" descr="fig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760719" cy="19114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F3B57"/>
                </a:solidFill>
                <a:latin typeface="微软雅黑"/>
                <a:ea typeface="微软雅黑"/>
              </a:rPr>
              <a:t>简单案例：同一块石板，两种摆法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55555"/>
                </a:solidFill>
                <a:latin typeface="微软雅黑"/>
                <a:ea typeface="微软雅黑"/>
              </a:rPr>
              <a:t>只挪"灯光"和"站位"，总评分 65000 → 95000（+46%）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89" y="1737360"/>
            <a:ext cx="10856741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>
                <a:solidFill>
                  <a:srgbClr val="555555"/>
                </a:solidFill>
                <a:latin typeface="微软雅黑"/>
                <a:ea typeface="微软雅黑"/>
              </a:rPr>
              <a:t>整理前 P1 站 1 级格，拿 16000 分；整理后 P1 站到石板加成的 3 级格，拿 46000 分——评分公式：有效等级 × 10000 × 优先级权重 + 启用 1000（P1 传说权重 1.5）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F3B57"/>
                </a:solidFill>
                <a:latin typeface="微软雅黑"/>
                <a:ea typeface="微软雅黑"/>
              </a:rPr>
              <a:t>第三步：搜索（一）智能初始布局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55555"/>
                </a:solidFill>
                <a:latin typeface="微软雅黑"/>
                <a:ea typeface="微软雅黑"/>
              </a:rPr>
              <a:t>不靠运气，按机制优先级逐个落位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石板贪心摆位</a:t>
            </a:r>
            <a:r>
              <a:rPr sz="1150" b="0">
                <a:solidFill>
                  <a:srgbClr val="8A8A8A"/>
                </a:solidFill>
                <a:latin typeface="微软雅黑"/>
                <a:ea typeface="微软雅黑"/>
              </a:rPr>
              <a:t>  负效果优先，逐格逐旋转打分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受限护符先放</a:t>
            </a:r>
            <a:r>
              <a:rPr sz="1150" b="0">
                <a:solidFill>
                  <a:srgbClr val="8A8A8A"/>
                </a:solidFill>
                <a:latin typeface="微软雅黑"/>
                <a:ea typeface="微软雅黑"/>
              </a:rPr>
              <a:t>  满足条件格 → 豁免格 → 任意格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行锁定物品</a:t>
            </a:r>
            <a:r>
              <a:rPr sz="1150" b="0">
                <a:solidFill>
                  <a:srgbClr val="8A8A8A"/>
                </a:solidFill>
                <a:latin typeface="微软雅黑"/>
                <a:ea typeface="微软雅黑"/>
              </a:rPr>
              <a:t>  保持用户所在行，行内选最佳列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望远镜 / 和谐之晶 / 奉献徽章</a:t>
            </a:r>
            <a:r>
              <a:rPr sz="1150" b="0">
                <a:solidFill>
                  <a:srgbClr val="8A8A8A"/>
                </a:solidFill>
                <a:latin typeface="微软雅黑"/>
                <a:ea typeface="微软雅黑"/>
              </a:rPr>
              <a:t>  先落位：8 邻域加权、同行加权引导后续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行星聚簇 → 罗盘配对</a:t>
            </a:r>
            <a:r>
              <a:rPr sz="1150" b="0">
                <a:solidFill>
                  <a:srgbClr val="8A8A8A"/>
                </a:solidFill>
                <a:latin typeface="微软雅黑"/>
                <a:ea typeface="微软雅黑"/>
              </a:rPr>
              <a:t>  望远镜旁 / "上方是伤害类"的格子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其余护符按优先级，负担塞负格</a:t>
            </a:r>
          </a:p>
        </p:txBody>
      </p:sp>
      <p:pic>
        <p:nvPicPr>
          <p:cNvPr id="7" name="Picture 6" descr="fig_smart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600200"/>
            <a:ext cx="5943600" cy="44092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F3B57"/>
                </a:solidFill>
                <a:latin typeface="微软雅黑"/>
                <a:ea typeface="微软雅黑"/>
              </a:rPr>
              <a:t>第三步：搜索（二）模拟退火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55555"/>
                </a:solidFill>
                <a:latin typeface="微软雅黑"/>
                <a:ea typeface="微软雅黑"/>
              </a:rPr>
              <a:t>在起点附近反复试探，温度从高到低收敛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每次迭代做一次小改动并重新打分：约 38% 是定向移动（受限护符跳满足格 / 行星挪到望远镜旁 / 指北针挪到伤害类下方 / 负担丢进负格），其余是随机探索（移动 / 交换 / 旋转石板）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温度高时接受"变差"的解，翻过局部最优的小山坡；温度线性降到 1 后只接受变好，保证收敛；每轮随机重启 3 次</a:t>
            </a:r>
          </a:p>
        </p:txBody>
      </p:sp>
      <p:pic>
        <p:nvPicPr>
          <p:cNvPr id="7" name="Picture 6" descr="fig_ann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327" y="3291840"/>
            <a:ext cx="8230305" cy="30175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F3B57"/>
                </a:solidFill>
                <a:latin typeface="微软雅黑"/>
                <a:ea typeface="微软雅黑"/>
              </a:rPr>
              <a:t>第三步：搜索（三）多轮独立搜索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55555"/>
                </a:solidFill>
                <a:latin typeface="微软雅黑"/>
                <a:ea typeface="微软雅黑"/>
              </a:rPr>
              <a:t>SearchRounds = 4：每按一次 F8 跑 4 轮，取全局最优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F3B57"/>
                </a:solidFill>
                <a:latin typeface="微软雅黑"/>
                <a:ea typeface="微软雅黑"/>
              </a:rPr>
              <a:t>· 每轮不同随机种子</a:t>
            </a:r>
            <a:r>
              <a:rPr sz="1250" b="0">
                <a:solidFill>
                  <a:srgbClr val="8A8A8A"/>
                </a:solidFill>
                <a:latin typeface="微软雅黑"/>
                <a:ea typeface="微软雅黑"/>
              </a:rPr>
              <a:t>  等效自动把 F8 重复按 4 次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F3B57"/>
                </a:solidFill>
                <a:latin typeface="微软雅黑"/>
                <a:ea typeface="微软雅黑"/>
              </a:rPr>
              <a:t>· 多起点</a:t>
            </a:r>
            <a:r>
              <a:rPr sz="1250" b="0">
                <a:solidFill>
                  <a:srgbClr val="8A8A8A"/>
                </a:solidFill>
                <a:latin typeface="微软雅黑"/>
                <a:ea typeface="微软雅黑"/>
              </a:rPr>
              <a:t>  智能初始 / 原始布局 / 随机打乱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F3B57"/>
                </a:solidFill>
                <a:latin typeface="微软雅黑"/>
                <a:ea typeface="微软雅黑"/>
              </a:rPr>
              <a:t>· 取全局最高分</a:t>
            </a:r>
            <a:r>
              <a:rPr sz="1250" b="0">
                <a:solidFill>
                  <a:srgbClr val="8A8A8A"/>
                </a:solidFill>
                <a:latin typeface="微软雅黑"/>
                <a:ea typeface="微软雅黑"/>
              </a:rPr>
              <a:t>  一次按键直达最佳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F3B57"/>
                </a:solidFill>
                <a:latin typeface="微软雅黑"/>
                <a:ea typeface="微软雅黑"/>
              </a:rPr>
              <a:t>· 全离线评估，毫秒级</a:t>
            </a:r>
            <a:r>
              <a:rPr sz="1250" b="0">
                <a:solidFill>
                  <a:srgbClr val="8A8A8A"/>
                </a:solidFill>
                <a:latin typeface="微软雅黑"/>
                <a:ea typeface="微软雅黑"/>
              </a:rPr>
              <a:t>  34 格满包约 200~300ms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F3B57"/>
                </a:solidFill>
                <a:latin typeface="微软雅黑"/>
                <a:ea typeface="微软雅黑"/>
              </a:rPr>
              <a:t>· 分数不升则不应用</a:t>
            </a:r>
            <a:r>
              <a:rPr sz="1250" b="0">
                <a:solidFill>
                  <a:srgbClr val="8A8A8A"/>
                </a:solidFill>
                <a:latin typeface="微软雅黑"/>
                <a:ea typeface="微软雅黑"/>
              </a:rPr>
              <a:t>  结果不比现状好就保持原样</a:t>
            </a:r>
          </a:p>
        </p:txBody>
      </p:sp>
      <p:pic>
        <p:nvPicPr>
          <p:cNvPr id="7" name="Picture 6" descr="fig_mu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9968" y="1691640"/>
            <a:ext cx="5213742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F3B57"/>
                </a:solidFill>
                <a:latin typeface="微软雅黑"/>
                <a:ea typeface="微软雅黑"/>
              </a:rPr>
              <a:t>第四步：把结果写回游戏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55555"/>
                </a:solidFill>
                <a:latin typeface="微软雅黑"/>
                <a:ea typeface="微软雅黑"/>
              </a:rPr>
              <a:t>单机/主机与联机客户端两种执行方式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5394960" cy="2377440"/>
          </a:xfrm>
          <a:prstGeom prst="rect">
            <a:avLst/>
          </a:prstGeom>
          <a:solidFill>
            <a:srgbClr val="EDF3FA"/>
          </a:solidFill>
          <a:ln w="12700">
            <a:solidFill>
              <a:srgbClr val="2F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2F6FAD"/>
                </a:solidFill>
                <a:latin typeface="微软雅黑"/>
                <a:ea typeface="微软雅黑"/>
              </a:rPr>
              <a:t>单机 / 主机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直接把算好的整包布局写回背包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再用游戏接口读一次真实评分核对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250" b="0">
                <a:solidFill>
                  <a:srgbClr val="555555"/>
                </a:solidFill>
                <a:latin typeface="微软雅黑"/>
                <a:ea typeface="微软雅黑"/>
              </a:rPr>
              <a:t>日志对比"离线评分 / 游戏评分"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45920"/>
            <a:ext cx="5394960" cy="2377440"/>
          </a:xfrm>
          <a:prstGeom prst="rect">
            <a:avLst/>
          </a:prstGeom>
          <a:solidFill>
            <a:srgbClr val="F3EFE7"/>
          </a:solidFill>
          <a:ln w="12700">
            <a:solidFill>
              <a:srgbClr val="C47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846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C47A1F"/>
                </a:solidFill>
                <a:latin typeface="微软雅黑"/>
                <a:ea typeface="微软雅黑"/>
              </a:rPr>
              <a:t>联机客户端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没有服务器权限，改用网络命令</a:t>
            </a:r>
          </a:p>
          <a:p>
            <a:pPr algn="l">
              <a:lnSpc>
                <a:spcPct val="112000"/>
              </a:lnSpc>
              <a:spcBef>
                <a:spcPts val="300"/>
              </a:spcBef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"当前布局 → 目标布局"翻译成交换 / 旋转序列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250" b="0">
                <a:solidFill>
                  <a:srgbClr val="555555"/>
                </a:solidFill>
                <a:latin typeface="微软雅黑"/>
                <a:ea typeface="微软雅黑"/>
              </a:rPr>
              <a:t>逐个执行，不清空背包，更保守</a:t>
            </a:r>
          </a:p>
        </p:txBody>
      </p:sp>
      <p:pic>
        <p:nvPicPr>
          <p:cNvPr id="10" name="Picture 9" descr="fig_cl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820" y="4206240"/>
            <a:ext cx="9523319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F3B57"/>
                </a:solidFill>
                <a:latin typeface="微软雅黑"/>
                <a:ea typeface="微软雅黑"/>
              </a:rPr>
              <a:t>安全设计：宁可不动，不可丢物品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55555"/>
                </a:solidFill>
                <a:latin typeface="微软雅黑"/>
                <a:ea typeface="微软雅黑"/>
              </a:rPr>
              <a:t>整理是重排整个背包，错误时机动手可能丢东西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566160" cy="2743200"/>
          </a:xfrm>
          <a:prstGeom prst="rect">
            <a:avLst/>
          </a:prstGeom>
          <a:solidFill>
            <a:srgbClr val="F7F9FB"/>
          </a:solidFill>
          <a:ln w="17780">
            <a:solidFill>
              <a:srgbClr val="2F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2F6FAD"/>
                </a:solidFill>
                <a:latin typeface="微软雅黑"/>
                <a:ea typeface="微软雅黑"/>
              </a:rPr>
              <a:t>进图等 3 秒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300" b="0">
                <a:solidFill>
                  <a:srgbClr val="1F3B57"/>
                </a:solidFill>
                <a:latin typeface="微软雅黑"/>
                <a:ea typeface="微软雅黑"/>
              </a:rPr>
              <a:t>SessionStableDelay：联机房间刚进时背包初始化未完成，此时按 F8 提示"请稍候"，不动手</a:t>
            </a:r>
          </a:p>
        </p:txBody>
      </p:sp>
      <p:sp>
        <p:nvSpPr>
          <p:cNvPr id="8" name="Rectangle 7"/>
          <p:cNvSpPr/>
          <p:nvPr/>
        </p:nvSpPr>
        <p:spPr>
          <a:xfrm>
            <a:off x="4416552" y="1783080"/>
            <a:ext cx="3566160" cy="2743200"/>
          </a:xfrm>
          <a:prstGeom prst="rect">
            <a:avLst/>
          </a:prstGeom>
          <a:solidFill>
            <a:srgbClr val="F7F9FB"/>
          </a:solidFill>
          <a:ln w="17780">
            <a:solidFill>
              <a:srgbClr val="3D8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2011680"/>
            <a:ext cx="3017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3D8B4F"/>
                </a:solidFill>
                <a:latin typeface="微软雅黑"/>
                <a:ea typeface="微软雅黑"/>
              </a:rPr>
              <a:t>快照一致性校验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300" b="0">
                <a:solidFill>
                  <a:srgbClr val="1F3B57"/>
                </a:solidFill>
                <a:latin typeface="微软雅黑"/>
                <a:ea typeface="微软雅黑"/>
              </a:rPr>
              <a:t>整理前抓背包快照，只统计正常背包格（排除药水带等特殊区域），对不上就取消本次整理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93024" y="1783080"/>
            <a:ext cx="3566160" cy="2743200"/>
          </a:xfrm>
          <a:prstGeom prst="rect">
            <a:avLst/>
          </a:prstGeom>
          <a:solidFill>
            <a:srgbClr val="F7F9FB"/>
          </a:solidFill>
          <a:ln w="17780">
            <a:solidFill>
              <a:srgbClr val="C47A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67344" y="2011680"/>
            <a:ext cx="30175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C47A1F"/>
                </a:solidFill>
                <a:latin typeface="微软雅黑"/>
                <a:ea typeface="微软雅黑"/>
              </a:rPr>
              <a:t>一次应用，失败不重试</a:t>
            </a:r>
          </a:p>
          <a:p>
            <a:pPr algn="l">
              <a:lnSpc>
                <a:spcPct val="112000"/>
              </a:lnSpc>
              <a:spcBef>
                <a:spcPts val="1000"/>
              </a:spcBef>
            </a:pPr>
            <a:r>
              <a:rPr sz="1300" b="0">
                <a:solidFill>
                  <a:srgbClr val="1F3B57"/>
                </a:solidFill>
                <a:latin typeface="微软雅黑"/>
                <a:ea typeface="微软雅黑"/>
              </a:rPr>
              <a:t>算完只应用一次，宁可留着不整理也不冒险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55555"/>
                </a:solidFill>
                <a:latin typeface="微软雅黑"/>
                <a:ea typeface="微软雅黑"/>
              </a:rPr>
              <a:t>这些防御是有代价换来的：早期版本用"清空再重写"应用布局，触发过游戏起始物品补货机制，出现过物品丢失 / 复制。后来改成防御式设计，整理前多重校验。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F3B57"/>
                </a:solidFill>
                <a:latin typeface="微软雅黑"/>
                <a:ea typeface="微软雅黑"/>
              </a:rPr>
              <a:t>实测效果与日志诊断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55555"/>
                </a:solidFill>
                <a:latin typeface="微软雅黑"/>
                <a:ea typeface="微软雅黑"/>
              </a:rPr>
              <a:t>每次整理都输出完整落地情况，方便核对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一次 F8 直达最佳</a:t>
            </a:r>
            <a:r>
              <a:rPr sz="1150" b="0">
                <a:solidFill>
                  <a:srgbClr val="8A8A8A"/>
                </a:solidFill>
                <a:latin typeface="微软雅黑"/>
                <a:ea typeface="微软雅黑"/>
              </a:rPr>
              <a:t>  多轮搜索合并，单键即达最优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和谐之晶实测</a:t>
            </a:r>
            <a:r>
              <a:rPr sz="1150" b="0">
                <a:solidFill>
                  <a:srgbClr val="8A8A8A"/>
                </a:solidFill>
                <a:latin typeface="微软雅黑"/>
                <a:ea typeface="微软雅黑"/>
              </a:rPr>
              <a:t>  3 晶聚簇 + 14 级护符，评分 4000 → 355004，141ms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1F3B57"/>
                </a:solidFill>
                <a:latin typeface="微软雅黑"/>
                <a:ea typeface="微软雅黑"/>
              </a:rPr>
              <a:t>· 40 件满包约 180ms</a:t>
            </a:r>
            <a:r>
              <a:rPr sz="1150" b="0">
                <a:solidFill>
                  <a:srgbClr val="8A8A8A"/>
                </a:solidFill>
                <a:latin typeface="微软雅黑"/>
                <a:ea typeface="微软雅黑"/>
              </a:rPr>
              <a:t>  毫秒级，游戏内无卡顿感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2F6FAD"/>
                </a:solidFill>
                <a:latin typeface="微软雅黑"/>
                <a:ea typeface="微软雅黑"/>
              </a:rPr>
              <a:t>日志输出（示意）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572000"/>
            <a:ext cx="5394960" cy="1737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4846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D8D8D8"/>
                </a:solidFill>
                <a:latin typeface="微软雅黑"/>
                <a:ea typeface="微软雅黑"/>
              </a:rPr>
              <a:t>智能初始布局：4000 -&gt; 210000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8D8D8"/>
                </a:solidFill>
                <a:latin typeface="微软雅黑"/>
                <a:ea typeface="微软雅黑"/>
              </a:rPr>
              <a:t>增强整理完成（141ms）：4000 -&gt; 355004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8D8D8"/>
                </a:solidFill>
                <a:latin typeface="微软雅黑"/>
                <a:ea typeface="微软雅黑"/>
              </a:rPr>
              <a:t>奉献徽章@0,5：同行同伴 2 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F6FAD"/>
                </a:solidFill>
                <a:latin typeface="微软雅黑"/>
                <a:ea typeface="微软雅黑"/>
              </a:rPr>
              <a:t>每次整理输出的诊断信息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945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3B57"/>
                </a:solidFill>
                <a:latin typeface="微软雅黑"/>
                <a:ea typeface="微软雅黑"/>
              </a:rPr>
              <a:t>· 识别统计：护符 / 望远镜 / 罗盘 / 附魔 / 奉献徽章 / 同伴数量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3B57"/>
                </a:solidFill>
                <a:latin typeface="微软雅黑"/>
                <a:ea typeface="微软雅黑"/>
              </a:rPr>
              <a:t>· 布局网格图：每格物品类型 + 等级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3B57"/>
                </a:solidFill>
                <a:latin typeface="微软雅黑"/>
                <a:ea typeface="微软雅黑"/>
              </a:rPr>
              <a:t>· 机制落地位置：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3B57"/>
                </a:solidFill>
                <a:latin typeface="微软雅黑"/>
                <a:ea typeface="微软雅黑"/>
              </a:rPr>
              <a:t>· 望远镜@x,y 相邻行星 N 颗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3B57"/>
                </a:solidFill>
                <a:latin typeface="微软雅黑"/>
                <a:ea typeface="微软雅黑"/>
              </a:rPr>
              <a:t>· 和谐之晶@x,y 周围 8 格等级和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3B57"/>
                </a:solidFill>
                <a:latin typeface="微软雅黑"/>
                <a:ea typeface="微软雅黑"/>
              </a:rPr>
              <a:t>· 奉献徽章@x,y 同行同伴 N 个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3B57"/>
                </a:solidFill>
                <a:latin typeface="微软雅黑"/>
                <a:ea typeface="微软雅黑"/>
              </a:rPr>
              <a:t>· 罗盘@x,y 上方类型 / 负担@x,y 格等级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3B57"/>
                </a:solidFill>
                <a:latin typeface="微软雅黑"/>
                <a:ea typeface="微软雅黑"/>
              </a:rPr>
              <a:t>· 离线评分 / 游戏评分前后对比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66928"/>
          </a:xfrm>
          <a:prstGeom prst="rect">
            <a:avLst/>
          </a:prstGeom>
          <a:solidFill>
            <a:srgbClr val="2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9184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F3B57"/>
                </a:solidFill>
                <a:latin typeface="微软雅黑"/>
                <a:ea typeface="微软雅黑"/>
              </a:rPr>
              <a:t>配置速查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3268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55555"/>
                </a:solidFill>
                <a:latin typeface="微软雅黑"/>
                <a:ea typeface="微软雅黑"/>
              </a:rPr>
              <a:t>全部参数在 com.sephiria.backpack-organizer.cfg，改完重启生效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972800" cy="402336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73352"/>
            <a:ext cx="4023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1F3B57"/>
                </a:solidFill>
                <a:latin typeface="微软雅黑"/>
                <a:ea typeface="微软雅黑"/>
              </a:rPr>
              <a:t>General / Hotkey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73352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2F6FAD"/>
                </a:solidFill>
                <a:latin typeface="微软雅黑"/>
                <a:ea typeface="微软雅黑"/>
              </a:rPr>
              <a:t>F8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673352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触发整理的快捷键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75688"/>
            <a:ext cx="4023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1F3B57"/>
                </a:solidFill>
                <a:latin typeface="微软雅黑"/>
                <a:ea typeface="微软雅黑"/>
              </a:rPr>
              <a:t>General / SessionStableDelay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75688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2F6FAD"/>
                </a:solidFill>
                <a:latin typeface="微软雅黑"/>
                <a:ea typeface="微软雅黑"/>
              </a:rPr>
              <a:t>3 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075688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进图后等待背包初始化（防丢物品）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04872"/>
            <a:ext cx="10972800" cy="402336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478024"/>
            <a:ext cx="4023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1F3B57"/>
                </a:solidFill>
                <a:latin typeface="微软雅黑"/>
                <a:ea typeface="微软雅黑"/>
              </a:rPr>
              <a:t>Enhanced / SearchRounds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478024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2F6FAD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478024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每按一次 F8 跑的独立搜索轮数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880360"/>
            <a:ext cx="4023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1F3B57"/>
                </a:solidFill>
                <a:latin typeface="微软雅黑"/>
                <a:ea typeface="微软雅黑"/>
              </a:rPr>
              <a:t>Enhanced / Iterations · Temperature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880360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2F6FAD"/>
                </a:solidFill>
                <a:latin typeface="微软雅黑"/>
                <a:ea typeface="微软雅黑"/>
              </a:rPr>
              <a:t>3000 · 800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880360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退火迭代次数与初始温度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209544"/>
            <a:ext cx="10972800" cy="402336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282696"/>
            <a:ext cx="4023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1F3B57"/>
                </a:solidFill>
                <a:latin typeface="微软雅黑"/>
                <a:ea typeface="微软雅黑"/>
              </a:rPr>
              <a:t>Priority / Weight1~4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282696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2F6FAD"/>
                </a:solidFill>
                <a:latin typeface="微软雅黑"/>
                <a:ea typeface="微软雅黑"/>
              </a:rPr>
              <a:t>1.5 / 1.25 / 1.1 / 1.0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282696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各优先级护符的等级分权重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685032"/>
            <a:ext cx="4023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1F3B57"/>
                </a:solidFill>
                <a:latin typeface="微软雅黑"/>
                <a:ea typeface="微软雅黑"/>
              </a:rPr>
              <a:t>Synergy / PlanetBonus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685032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2F6FAD"/>
                </a:solidFill>
                <a:latin typeface="微软雅黑"/>
                <a:ea typeface="微软雅黑"/>
              </a:rPr>
              <a:t>40000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685032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行星聚簇：望远镜周围每颗行星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014216"/>
            <a:ext cx="10972800" cy="402336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087368"/>
            <a:ext cx="4023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1F3B57"/>
                </a:solidFill>
                <a:latin typeface="微软雅黑"/>
                <a:ea typeface="微软雅黑"/>
              </a:rPr>
              <a:t>Synergy / HarmonyLevelBonus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087368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2F6FAD"/>
                </a:solidFill>
                <a:latin typeface="微软雅黑"/>
                <a:ea typeface="微软雅黑"/>
              </a:rPr>
              <a:t>2000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087368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和谐之晶：周围 8 格每级等级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489704"/>
            <a:ext cx="4023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1F3B57"/>
                </a:solidFill>
                <a:latin typeface="微软雅黑"/>
                <a:ea typeface="微软雅黑"/>
              </a:rPr>
              <a:t>Synergy / DedicationCompanionBonus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489704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2F6FAD"/>
                </a:solidFill>
                <a:latin typeface="微软雅黑"/>
                <a:ea typeface="微软雅黑"/>
              </a:rPr>
              <a:t>3000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489704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奉献徽章：每个同行同伴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818888"/>
            <a:ext cx="10972800" cy="402336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892040"/>
            <a:ext cx="4023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1F3B57"/>
                </a:solidFill>
                <a:latin typeface="微软雅黑"/>
                <a:ea typeface="微软雅黑"/>
              </a:rPr>
              <a:t>Synergy / CompassBonus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892040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2F6FAD"/>
                </a:solidFill>
                <a:latin typeface="微软雅黑"/>
                <a:ea typeface="微软雅黑"/>
              </a:rPr>
              <a:t>12000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892040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指北针配对奖励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294376"/>
            <a:ext cx="40233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1F3B57"/>
                </a:solidFill>
                <a:latin typeface="微软雅黑"/>
                <a:ea typeface="微软雅黑"/>
              </a:rPr>
              <a:t>Burden / NegativeCellPenalty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5294376"/>
            <a:ext cx="2377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2F6FAD"/>
                </a:solidFill>
                <a:latin typeface="微软雅黑"/>
                <a:ea typeface="微软雅黑"/>
              </a:rPr>
              <a:t>20000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5294376"/>
            <a:ext cx="3931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55555"/>
                </a:solidFill>
                <a:latin typeface="微软雅黑"/>
                <a:ea typeface="微软雅黑"/>
              </a:rPr>
              <a:t>负担未待负格时的扣分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2F6FAD"/>
                </a:solidFill>
                <a:latin typeface="微软雅黑"/>
                <a:ea typeface="微软雅黑"/>
              </a:rPr>
              <a:t>一句话总结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1F3B57"/>
                </a:solidFill>
                <a:latin typeface="微软雅黑"/>
                <a:ea typeface="微软雅黑"/>
              </a:rPr>
              <a:t>识别每件物品 → 给摆法打分 → 搜索最高分布局 → 一次性应用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0233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>
                <a:solidFill>
                  <a:srgbClr val="555555"/>
                </a:solidFill>
                <a:latin typeface="微软雅黑"/>
                <a:ea typeface="微软雅黑"/>
              </a:rPr>
              <a:t>按 F8，剩下的交给插件。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1206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8A8A8A"/>
                </a:solidFill>
                <a:latin typeface="微软雅黑"/>
                <a:ea typeface="微软雅黑"/>
              </a:rPr>
              <a:t>BepInEx 插件 · v2.3.9 · 单机 / 主机 / 联机客户端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D8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